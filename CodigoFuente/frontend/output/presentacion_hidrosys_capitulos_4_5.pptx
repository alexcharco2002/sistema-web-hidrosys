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Cumplimiento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Completitud</c:v>
                </c:pt>
                <c:pt idx="1">
                  <c:v>Corrección</c:v>
                </c:pt>
                <c:pt idx="2">
                  <c:v>Pertinencia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97.92</c:v>
                </c:pt>
                <c:pt idx="1">
                  <c:v>93.75</c:v>
                </c:pt>
                <c:pt idx="2">
                  <c:v>93.75</c:v>
                </c:pt>
              </c:numCache>
            </c:numRef>
          </c:val>
        </c:ser>
        <c:dLbls>
          <c:numFmt formatCode="0.0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CE6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3566160" cy="6858000"/>
          </a:xfrm>
          <a:prstGeom prst="rect">
            <a:avLst/>
          </a:prstGeom>
          <a:solidFill>
            <a:srgbClr val="04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005840"/>
            <a:ext cx="822960" cy="82296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95560" y="2011680"/>
            <a:ext cx="411480" cy="411480"/>
          </a:xfrm>
          <a:prstGeom prst="ellipse">
            <a:avLst/>
          </a:prstGeom>
          <a:solidFill>
            <a:srgbClr val="3F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3931920"/>
            <a:ext cx="640080" cy="64008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5212080"/>
            <a:ext cx="329184" cy="329184"/>
          </a:xfrm>
          <a:prstGeom prst="ellipse">
            <a:avLst/>
          </a:prstGeom>
          <a:solidFill>
            <a:srgbClr val="3F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56692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BF5EF"/>
                </a:solidFill>
                <a:latin typeface="Aptos"/>
              </a:rPr>
              <a:t>HidroSys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417320"/>
            <a:ext cx="69037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Sistema web para facturación de agua potable con geolocalización de medidores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BEE7E6"/>
                </a:solidFill>
                <a:latin typeface="Aptos"/>
              </a:rPr>
              <a:t>Comunidad Sanjapamba | Capítulos IV y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704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Jeferson Charco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996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EE7E6"/>
                </a:solidFill>
                <a:latin typeface="Aptos"/>
              </a:rPr>
              <a:t>Defensa de trabajo de titulación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Problema y punto de partida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El proceso anterior limitaba el control operativo y el acceso oportuno a la información.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329184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Facturación gestionada en un sistema de escritorio y procesos manuales.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Dificultad para consultar historial de pagos y estados de cuenta.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Lecturas de medidores dependientes del registro manual en campo.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Ubicación de medidores poco eficiente para planificar recorridos.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64208"/>
            <a:ext cx="4480560" cy="3566160"/>
          </a:xfrm>
          <a:prstGeom prst="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9933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C2D40"/>
                </a:solidFill>
                <a:latin typeface="Aptos"/>
              </a:rPr>
              <a:t>Necesidad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14600"/>
            <a:ext cx="3611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C2D40"/>
                </a:solidFill>
                <a:latin typeface="Aptos"/>
              </a:rPr>
              <a:t>Digitalizar la gestión de facturación y facilitar la ubicación de medidores para mejorar lecturas, pagos y atención a afiliados.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Objetivos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C2D40"/>
                </a:solidFill>
                <a:latin typeface="Aptos"/>
              </a:rPr>
              <a:t>Desarrollar un sistema web para la facturación del servicio de agua potable en la comunidad Sanjapamba, incorporando geolocalización de medidores.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Objetivos específicos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84831"/>
            <a:ext cx="4800600" cy="237744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Estudiar procesos de facturación para definir requerimientos.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Desarrollar módulos del sistema, incluido Google Maps API.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Evaluar adecuación funcional conforme a ISO/IEC 25010.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Del proceso manual a los requisitos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El levantamiento permitió convertir problemas operativos en funcionalidades evaluables.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94560"/>
            <a:ext cx="530352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C2D40"/>
                </a:solidFill>
                <a:latin typeface="Aptos"/>
              </a:rPr>
              <a:t>Observación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63824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66573"/>
                </a:solidFill>
                <a:latin typeface="Aptos"/>
              </a:rPr>
              <a:t>Proceso real en la JAAP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2" y="278892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9688"/>
                </a:solidFill>
                <a:latin typeface="Aptos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94560"/>
            <a:ext cx="530352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C2D40"/>
                </a:solidFill>
                <a:latin typeface="Aptos"/>
              </a:rPr>
              <a:t>BPMN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63824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66573"/>
                </a:solidFill>
                <a:latin typeface="Aptos"/>
              </a:rPr>
              <a:t>Modelado de actividades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78892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9688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94560"/>
            <a:ext cx="530352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C2D40"/>
                </a:solidFill>
                <a:latin typeface="Aptos"/>
              </a:rPr>
              <a:t>35 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63824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66573"/>
                </a:solidFill>
                <a:latin typeface="Aptos"/>
              </a:rPr>
              <a:t>Requisitos funcionales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78892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9688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39" y="2194560"/>
            <a:ext cx="530352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C2D40"/>
                </a:solidFill>
                <a:latin typeface="Aptos"/>
              </a:rPr>
              <a:t>12 módulos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3163824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66573"/>
                </a:solidFill>
                <a:latin typeface="Aptos"/>
              </a:rPr>
              <a:t>Organización del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Desarrollo de HidroSys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SCRUM permitió controlar el avance técnico y cerrar el desarrollo con baja desviación.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1920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009688"/>
                </a:solidFill>
                <a:latin typeface="Aptos Display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3288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Aptos"/>
              </a:rPr>
              <a:t>sprints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938528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0076B6"/>
                </a:solidFill>
                <a:latin typeface="Aptos Display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5328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Aptos"/>
              </a:rPr>
              <a:t>horas de esfuerzo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938528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EF9437"/>
                </a:solidFill>
                <a:latin typeface="Aptos Display"/>
              </a:rPr>
              <a:t>3,3 %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5328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Aptos"/>
              </a:rPr>
              <a:t>desviación del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C2D40"/>
                </a:solidFill>
                <a:latin typeface="Aptos"/>
              </a:rPr>
              <a:t>Arquitectura implementada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62272"/>
            <a:ext cx="141732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462272"/>
            <a:ext cx="1417320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462272"/>
            <a:ext cx="1417320" cy="402336"/>
          </a:xfrm>
          <a:prstGeom prst="roundRect">
            <a:avLst/>
          </a:prstGeom>
          <a:solidFill>
            <a:srgbClr val="2DA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06908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Aptos"/>
              </a:rPr>
              <a:t>Frontend web, backend API y base de datos relacional para centralizar usuarios, lecturas, facturación y pagos.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Módulos implementados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El sistema integra la operación administrativa, la lectura de consumos y la atención del afiliado.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Autenticación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182880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Usuarios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148840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Medidores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19" y="182880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4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Tarifas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260604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Servicios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06040"/>
            <a:ext cx="2148840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260604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Facturación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79" y="338328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Multas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2148840" cy="402336"/>
          </a:xfrm>
          <a:prstGeom prst="round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Reportes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3383280"/>
            <a:ext cx="2148840" cy="40233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Geolocalización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C2D40"/>
                </a:solidFill>
                <a:latin typeface="Aptos"/>
              </a:rPr>
              <a:t>Roles evaluados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892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66573"/>
                </a:solidFill>
                <a:latin typeface="Aptos"/>
              </a:rPr>
              <a:t>Administrador  |  Cajero  |  Lector  |  Afiliado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Geolocalización de medidores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El módulo conecta la facturación con el territorio real de la comunidad.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4846320" cy="4114800"/>
          </a:xfrm>
          <a:prstGeom prst="rect">
            <a:avLst/>
          </a:prstGeom>
          <a:solidFill>
            <a:srgbClr val="D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240280"/>
            <a:ext cx="310896" cy="310896"/>
          </a:xfrm>
          <a:prstGeom prst="ellipse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2697480"/>
            <a:ext cx="310896" cy="310896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31720" y="3977639"/>
            <a:ext cx="310896" cy="310896"/>
          </a:xfrm>
          <a:prstGeom prst="ellipse">
            <a:avLst/>
          </a:prstGeom>
          <a:solidFill>
            <a:srgbClr val="2DA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0560" y="4343400"/>
            <a:ext cx="310896" cy="310896"/>
          </a:xfrm>
          <a:prstGeom prst="ellipse">
            <a:avLst/>
          </a:prstGeom>
          <a:solidFill>
            <a:srgbClr val="EF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0749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C2D40"/>
                </a:solidFill>
                <a:latin typeface="Aptos"/>
              </a:rPr>
              <a:t>Google Maps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572000" cy="246888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Visualización interactiva de medidores georreferenciados.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Ubicación más rápida durante la lectura de consumo.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Mejor base para planificar recorridos por sector.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Evaluación de adecuación funcional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La evaluación se alineó con ISO/IEC 25010 y métricas ISO/IEC 25023.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009688"/>
                </a:solidFill>
                <a:latin typeface="Aptos Display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Aptos"/>
              </a:rPr>
              <a:t>participantes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0076B6"/>
                </a:solidFill>
                <a:latin typeface="Aptos Display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Aptos"/>
              </a:rPr>
              <a:t>miembros administrativos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2DAA5F"/>
                </a:solidFill>
                <a:latin typeface="Aptos Display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Aptos"/>
              </a:rPr>
              <a:t>afiliados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58768"/>
            <a:ext cx="9601200" cy="155448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Evaluación por roles y módulos funcionales.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Lista de verificación como instrumento de recolección.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Subcaracterísticas: completitud, corrección y pertinencia funcional.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Resultados por subcaracterística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Las tres mediciones superan el 93 % y sostienen un alto cumplimiento funcional.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91640"/>
          <a:ext cx="61264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90195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Lectura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423160"/>
            <a:ext cx="3657600" cy="210312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Once de doce módulos alcanzaron 100 % en completitud.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Facturación obtuvo 75 % por una funcionalidad ausente.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OU-01, OU-07 y OU-08 presentaron oportunidades de mejora.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Resultado global de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La ponderación de las subcaracterísticas ubicó al sistema en nivel 4 de calidad.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009688"/>
                </a:solidFill>
                <a:latin typeface="Aptos Display"/>
              </a:rPr>
              <a:t>95,14 %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889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C2D40"/>
                </a:solidFill>
                <a:latin typeface="Aptos"/>
              </a:rPr>
              <a:t>Adecuación funcional global de HidroSys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965960"/>
            <a:ext cx="4800600" cy="210312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Cumple adecuadamente las funcionalidades establecidas.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La evaluación confirma la utilidad operativa del sistema web.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Los resultados dejan mejoras puntuales para futuras iteraciones.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Conclusiones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El proyecto resolvió necesidades funcionales concretas de la gestión de agua potable.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241280" cy="3474720"/>
          </a:xfrm>
          <a:prstGeom prst="rect">
            <a:avLst/>
          </a:prstGeom>
          <a:noFill/>
        </p:spPr>
        <p:txBody>
          <a:bodyPr wrap="square" lIns="4572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El análisis del proceso permitió detectar fallas en pagos, lecturas y acceso a información.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HidroSys integró módulos administrativos, operativos y de consulta para los afiliados.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La geolocalización mejora la ubicación de medidores y la planificación de lecturas.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La evaluación ISO/IEC 25010 confirmó un alto grado de cumplimiento funcional.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2D40"/>
                </a:solidFill>
                <a:latin typeface="Aptos Display"/>
              </a:rPr>
              <a:t>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7043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Aptos"/>
              </a:rPr>
              <a:t>Las mejoras propuestas amplían el alcance operativo y la calidad futura del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9688"/>
                </a:solidFill>
                <a:latin typeface="Aptos"/>
              </a:rPr>
              <a:t>Rutas óptimas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31136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Directions API o Routes API para ordenar visitas por cercanía.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76B6"/>
                </a:solidFill>
                <a:latin typeface="Aptos"/>
              </a:rPr>
              <a:t>App móvil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31136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Flutter para registrar lecturas en campo y sincronizar al recuperar conexión.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9688"/>
                </a:solidFill>
                <a:latin typeface="Aptos"/>
              </a:rPr>
              <a:t>Notificaciones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58768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Correo, SMS o WhatsApp para alertas de factura, vencimiento y deuda.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564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76B6"/>
                </a:solidFill>
                <a:latin typeface="Aptos"/>
              </a:rPr>
              <a:t>Más calidad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58768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Evaluar eficiencia de desempeño, seguridad y protección de datos.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66573"/>
                </a:solidFill>
                <a:latin typeface="Aptos"/>
              </a:rPr>
              <a:t>HidroSys | Capítulos IV y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6657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